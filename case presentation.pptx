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" charset="1" panose="020B0604020202020204"/>
      <p:regular r:id="rId13"/>
    </p:embeddedFont>
    <p:embeddedFont>
      <p:font typeface="Arial Bold" charset="1" panose="020B07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3392" y="5668251"/>
            <a:ext cx="17041197" cy="1585208"/>
          </a:xfrm>
          <a:custGeom>
            <a:avLst/>
            <a:gdLst/>
            <a:ahLst/>
            <a:cxnLst/>
            <a:rect r="r" b="b" t="t" l="l"/>
            <a:pathLst>
              <a:path h="1585208" w="17041197">
                <a:moveTo>
                  <a:pt x="0" y="0"/>
                </a:moveTo>
                <a:lnTo>
                  <a:pt x="17041197" y="0"/>
                </a:lnTo>
                <a:lnTo>
                  <a:pt x="17041197" y="1585208"/>
                </a:lnTo>
                <a:lnTo>
                  <a:pt x="0" y="1585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47" r="0" b="-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24475" y="1884693"/>
            <a:ext cx="7639050" cy="2400300"/>
          </a:xfrm>
          <a:custGeom>
            <a:avLst/>
            <a:gdLst/>
            <a:ahLst/>
            <a:cxnLst/>
            <a:rect r="r" b="b" t="t" l="l"/>
            <a:pathLst>
              <a:path h="2400300" w="7639050">
                <a:moveTo>
                  <a:pt x="0" y="0"/>
                </a:moveTo>
                <a:lnTo>
                  <a:pt x="7639050" y="0"/>
                </a:lnTo>
                <a:lnTo>
                  <a:pt x="76390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96" r="0" b="-39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24475" y="1884693"/>
            <a:ext cx="7639050" cy="2400300"/>
            <a:chOff x="0" y="0"/>
            <a:chExt cx="10185400" cy="320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85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185400">
                  <a:moveTo>
                    <a:pt x="0" y="0"/>
                  </a:moveTo>
                  <a:lnTo>
                    <a:pt x="10185400" y="0"/>
                  </a:lnTo>
                  <a:lnTo>
                    <a:pt x="10185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31772" y="6317980"/>
            <a:ext cx="8824427" cy="190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</a:pPr>
            <a:r>
              <a:rPr lang="en-US" sz="27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AUCTION SYSTEM (C++)</a:t>
            </a:r>
          </a:p>
          <a:p>
            <a:pPr algn="ctr">
              <a:lnSpc>
                <a:spcPts val="3764"/>
              </a:lnSpc>
            </a:pPr>
            <a:r>
              <a:rPr lang="en-US" sz="27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</a:p>
          <a:p>
            <a:pPr algn="ctr">
              <a:lnSpc>
                <a:spcPts val="3764"/>
              </a:lnSpc>
            </a:pPr>
            <a:r>
              <a:rPr lang="en-US" sz="27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Pallavi Sarovar</a:t>
            </a:r>
          </a:p>
          <a:p>
            <a:pPr algn="ctr">
              <a:lnSpc>
                <a:spcPts val="376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3392" y="890054"/>
            <a:ext cx="17041197" cy="1145400"/>
          </a:xfrm>
          <a:custGeom>
            <a:avLst/>
            <a:gdLst/>
            <a:ahLst/>
            <a:cxnLst/>
            <a:rect r="r" b="b" t="t" l="l"/>
            <a:pathLst>
              <a:path h="1145400" w="17041197">
                <a:moveTo>
                  <a:pt x="0" y="0"/>
                </a:moveTo>
                <a:lnTo>
                  <a:pt x="17041197" y="0"/>
                </a:lnTo>
                <a:lnTo>
                  <a:pt x="17041197" y="1145400"/>
                </a:lnTo>
                <a:lnTo>
                  <a:pt x="0" y="1145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116" r="0" b="-11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6405" y="2177948"/>
            <a:ext cx="17295190" cy="7769790"/>
          </a:xfrm>
          <a:custGeom>
            <a:avLst/>
            <a:gdLst/>
            <a:ahLst/>
            <a:cxnLst/>
            <a:rect r="r" b="b" t="t" l="l"/>
            <a:pathLst>
              <a:path h="7769790" w="17295190">
                <a:moveTo>
                  <a:pt x="0" y="0"/>
                </a:moveTo>
                <a:lnTo>
                  <a:pt x="17295190" y="0"/>
                </a:lnTo>
                <a:lnTo>
                  <a:pt x="17295190" y="7769791"/>
                </a:lnTo>
                <a:lnTo>
                  <a:pt x="0" y="776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" r="0" b="-1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828397" y="7984541"/>
            <a:ext cx="1836230" cy="1836230"/>
            <a:chOff x="0" y="0"/>
            <a:chExt cx="2448306" cy="24483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8306" cy="2448306"/>
            </a:xfrm>
            <a:custGeom>
              <a:avLst/>
              <a:gdLst/>
              <a:ahLst/>
              <a:cxnLst/>
              <a:rect r="r" b="b" t="t" l="l"/>
              <a:pathLst>
                <a:path h="2448306" w="2448306">
                  <a:moveTo>
                    <a:pt x="0" y="0"/>
                  </a:moveTo>
                  <a:lnTo>
                    <a:pt x="2448306" y="0"/>
                  </a:lnTo>
                  <a:lnTo>
                    <a:pt x="2448306" y="2448306"/>
                  </a:lnTo>
                  <a:lnTo>
                    <a:pt x="0" y="2448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4842" y="924497"/>
            <a:ext cx="1703375" cy="101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4"/>
              </a:lnSpc>
            </a:pPr>
            <a:r>
              <a:rPr lang="en-US" sz="5038" b="true">
                <a:solidFill>
                  <a:srgbClr val="A81B50"/>
                </a:solidFill>
                <a:latin typeface="Arial Bold"/>
                <a:ea typeface="Arial Bold"/>
                <a:cs typeface="Arial Bold"/>
                <a:sym typeface="Arial Bold"/>
              </a:rPr>
              <a:t>Index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4842" y="1291304"/>
            <a:ext cx="5282479" cy="405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7"/>
              </a:lnSpc>
            </a:pPr>
          </a:p>
          <a:p>
            <a:pPr algn="l">
              <a:lnSpc>
                <a:spcPts val="4467"/>
              </a:lnSpc>
            </a:pPr>
          </a:p>
          <a:p>
            <a:pPr algn="l">
              <a:lnSpc>
                <a:spcPts val="4467"/>
              </a:lnSpc>
            </a:pPr>
            <a:r>
              <a:rPr lang="en-US" sz="3237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Problem Statement</a:t>
            </a:r>
          </a:p>
          <a:p>
            <a:pPr algn="l">
              <a:lnSpc>
                <a:spcPts val="4467"/>
              </a:lnSpc>
            </a:pPr>
            <a:r>
              <a:rPr lang="en-US" sz="3237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Solution</a:t>
            </a:r>
          </a:p>
          <a:p>
            <a:pPr algn="l">
              <a:lnSpc>
                <a:spcPts val="4467"/>
              </a:lnSpc>
            </a:pPr>
            <a:r>
              <a:rPr lang="en-US" sz="3237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3. Working (Method / System Flow)</a:t>
            </a:r>
          </a:p>
          <a:p>
            <a:pPr algn="l">
              <a:lnSpc>
                <a:spcPts val="4467"/>
              </a:lnSpc>
            </a:pPr>
            <a:r>
              <a:rPr lang="en-US" sz="3237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9506" y="1049812"/>
            <a:ext cx="14974456" cy="817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3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Auction systems are used to sell items where buyers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 by placing bids.</a:t>
            </a:r>
          </a:p>
          <a:p>
            <a:pPr algn="l">
              <a:lnSpc>
                <a:spcPts val="4963"/>
              </a:lnSpc>
              <a:spcBef>
                <a:spcPct val="0"/>
              </a:spcBef>
            </a:pP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Manual auction systems can cause: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Difficulty tracking highest bids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Errors in recording bids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Lack of proper bid comparison</a:t>
            </a:r>
          </a:p>
          <a:p>
            <a:pPr algn="l">
              <a:lnSpc>
                <a:spcPts val="4963"/>
              </a:lnSpc>
              <a:spcBef>
                <a:spcPct val="0"/>
              </a:spcBef>
            </a:pP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goal is to develop a simple Online Auction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that allows users to place bids, track</a:t>
            </a:r>
          </a:p>
          <a:p>
            <a:pPr algn="l">
              <a:lnSpc>
                <a:spcPts val="4966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highest bid, and declare the winner.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96993" y="1040246"/>
            <a:ext cx="15294015" cy="812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1"/>
              </a:lnSpc>
            </a:pPr>
            <a:r>
              <a:rPr lang="en-US" sz="3597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  <a:p>
            <a:pPr algn="l">
              <a:lnSpc>
                <a:spcPts val="4961"/>
              </a:lnSpc>
            </a:pP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Online Auction System is a C++ console-based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 that simulates a competitive bidding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environment.</a:t>
            </a:r>
          </a:p>
          <a:p>
            <a:pPr algn="l">
              <a:lnSpc>
                <a:spcPts val="4961"/>
              </a:lnSpc>
            </a:pPr>
          </a:p>
          <a:p>
            <a:pPr algn="l">
              <a:lnSpc>
                <a:spcPts val="4961"/>
              </a:lnSpc>
            </a:pPr>
            <a:r>
              <a:rPr lang="en-US" sz="3597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Key Features: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Enter auction item and base price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Allow users to place bids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Track highest bid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Display highest bidder</a:t>
            </a:r>
          </a:p>
          <a:p>
            <a:pPr algn="l">
              <a:lnSpc>
                <a:spcPts val="4961"/>
              </a:lnSpc>
            </a:pPr>
            <a:r>
              <a:rPr lang="en-US" sz="35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Declare auction winner</a:t>
            </a:r>
          </a:p>
          <a:p>
            <a:pPr algn="l">
              <a:lnSpc>
                <a:spcPts val="496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68504"/>
            <a:ext cx="14528759" cy="914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32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Working of the System</a:t>
            </a:r>
          </a:p>
          <a:p>
            <a:pPr algn="l">
              <a:lnSpc>
                <a:spcPts val="4516"/>
              </a:lnSpc>
            </a:pP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enters item name and base price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displays menu options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selects "Place Bid"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enters bidder name and bid amount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compares bid with highest bid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bid is higher, highest bid is updated</a:t>
            </a:r>
          </a:p>
          <a:p>
            <a:pPr algn="l" marL="696493" indent="-348246" lvl="1">
              <a:lnSpc>
                <a:spcPts val="4516"/>
              </a:lnSpc>
              <a:buAutoNum type="arabicPeriod" startAt="1"/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user exits, the winner is declared</a:t>
            </a:r>
          </a:p>
          <a:p>
            <a:pPr algn="l">
              <a:lnSpc>
                <a:spcPts val="4516"/>
              </a:lnSpc>
            </a:pPr>
          </a:p>
          <a:p>
            <a:pPr algn="l">
              <a:lnSpc>
                <a:spcPts val="4516"/>
              </a:lnSpc>
            </a:pPr>
            <a:r>
              <a:rPr lang="en-US" sz="32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2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Used:</a:t>
            </a: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C++</a:t>
            </a: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Conditional Statements</a:t>
            </a: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Loops</a:t>
            </a:r>
          </a:p>
          <a:p>
            <a:pPr algn="l">
              <a:lnSpc>
                <a:spcPts val="4516"/>
              </a:lnSpc>
            </a:pP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Menu-driven programming</a:t>
            </a:r>
          </a:p>
          <a:p>
            <a:pPr algn="l">
              <a:lnSpc>
                <a:spcPts val="451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964082" y="501665"/>
            <a:ext cx="6517114" cy="7342073"/>
          </a:xfrm>
          <a:custGeom>
            <a:avLst/>
            <a:gdLst/>
            <a:ahLst/>
            <a:cxnLst/>
            <a:rect r="r" b="b" t="t" l="l"/>
            <a:pathLst>
              <a:path h="7342073" w="6517114">
                <a:moveTo>
                  <a:pt x="0" y="0"/>
                </a:moveTo>
                <a:lnTo>
                  <a:pt x="6517115" y="0"/>
                </a:lnTo>
                <a:lnTo>
                  <a:pt x="6517115" y="7342073"/>
                </a:lnTo>
                <a:lnTo>
                  <a:pt x="0" y="7342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5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64082" y="8085942"/>
            <a:ext cx="6517114" cy="1830245"/>
          </a:xfrm>
          <a:custGeom>
            <a:avLst/>
            <a:gdLst/>
            <a:ahLst/>
            <a:cxnLst/>
            <a:rect r="r" b="b" t="t" l="l"/>
            <a:pathLst>
              <a:path h="1830245" w="6517114">
                <a:moveTo>
                  <a:pt x="0" y="0"/>
                </a:moveTo>
                <a:lnTo>
                  <a:pt x="6517115" y="0"/>
                </a:lnTo>
                <a:lnTo>
                  <a:pt x="6517115" y="1830245"/>
                </a:lnTo>
                <a:lnTo>
                  <a:pt x="0" y="1830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87" r="0" b="-228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1377" y="1288933"/>
            <a:ext cx="14949707" cy="800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Online Auction System demonstrates how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bidding can be implemented using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C++ programming.</a:t>
            </a:r>
          </a:p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system successfully allows users to: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• </a:t>
            </a: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Place bids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Track the highest bid</a:t>
            </a:r>
          </a:p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Determine the winner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This case study helps understand conditional</a:t>
            </a:r>
          </a:p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logic and menu-driven programming in C++.</a:t>
            </a: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3392" y="5668251"/>
            <a:ext cx="17041197" cy="1585208"/>
          </a:xfrm>
          <a:custGeom>
            <a:avLst/>
            <a:gdLst/>
            <a:ahLst/>
            <a:cxnLst/>
            <a:rect r="r" b="b" t="t" l="l"/>
            <a:pathLst>
              <a:path h="1585208" w="17041197">
                <a:moveTo>
                  <a:pt x="0" y="0"/>
                </a:moveTo>
                <a:lnTo>
                  <a:pt x="17041197" y="0"/>
                </a:lnTo>
                <a:lnTo>
                  <a:pt x="17041197" y="1585208"/>
                </a:lnTo>
                <a:lnTo>
                  <a:pt x="0" y="1585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47" r="0" b="-4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24475" y="1884693"/>
            <a:ext cx="7639050" cy="2400300"/>
          </a:xfrm>
          <a:custGeom>
            <a:avLst/>
            <a:gdLst/>
            <a:ahLst/>
            <a:cxnLst/>
            <a:rect r="r" b="b" t="t" l="l"/>
            <a:pathLst>
              <a:path h="2400300" w="7639050">
                <a:moveTo>
                  <a:pt x="0" y="0"/>
                </a:moveTo>
                <a:lnTo>
                  <a:pt x="7639050" y="0"/>
                </a:lnTo>
                <a:lnTo>
                  <a:pt x="76390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96" r="0" b="-396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24475" y="1884693"/>
            <a:ext cx="7639050" cy="2400300"/>
            <a:chOff x="0" y="0"/>
            <a:chExt cx="10185400" cy="320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854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185400">
                  <a:moveTo>
                    <a:pt x="0" y="0"/>
                  </a:moveTo>
                  <a:lnTo>
                    <a:pt x="10185400" y="0"/>
                  </a:lnTo>
                  <a:lnTo>
                    <a:pt x="10185400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59491" y="5677967"/>
            <a:ext cx="3636550" cy="113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8"/>
              </a:lnSpc>
            </a:pPr>
            <a:r>
              <a:rPr lang="en-US" sz="5598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DAHC-B0Obfk</dc:identifier>
  <dcterms:modified xsi:type="dcterms:W3CDTF">2011-08-01T06:04:30Z</dcterms:modified>
  <cp:revision>1</cp:revision>
  <dc:title>case presentation.pptx</dc:title>
</cp:coreProperties>
</file>